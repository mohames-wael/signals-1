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3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18288000" cy="10287000"/>
  <p:notesSz cx="6858000" cy="9144000"/>
  <p:embeddedFontLst>
    <p:embeddedFont>
      <p:font typeface="Arial MT Pro" panose="020B0604020202020204" charset="0"/>
      <p:regular r:id="rId31"/>
    </p:embeddedFont>
    <p:embeddedFont>
      <p:font typeface="Arial MT Pro Bold" panose="020B0604020202020204" charset="0"/>
      <p:regular r:id="rId32"/>
    </p:embeddedFont>
    <p:embeddedFont>
      <p:font typeface="Canva Sans" panose="020B0604020202020204" charset="0"/>
      <p:regular r:id="rId33"/>
    </p:embeddedFont>
    <p:embeddedFont>
      <p:font typeface="Open Sans" panose="020B0606030504020204" pitchFamily="34" charset="0"/>
      <p:regular r:id="rId34"/>
    </p:embeddedFont>
    <p:embeddedFont>
      <p:font typeface="Open Sans Bold" panose="020B0604020202020204" charset="0"/>
      <p:regular r:id="rId35"/>
    </p:embeddedFont>
    <p:embeddedFont>
      <p:font typeface="Times New Roman MT" panose="020B0604020202020204" charset="0"/>
      <p:regular r:id="rId36"/>
    </p:embeddedFont>
    <p:embeddedFont>
      <p:font typeface="Times New Roman MT Bold" panose="020B0604020202020204" charset="0"/>
      <p:regular r:id="rId37"/>
    </p:embeddedFont>
    <p:embeddedFont>
      <p:font typeface="Times New Roman MT Ultra-Bold" panose="020B0604020202020204" charset="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61B9BC-E8E5-43DC-B801-261F18E8103E}" v="14" dt="2026-05-07T11:22:43.1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48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font" Target="fonts/font4.fntdata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6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" y="1138133"/>
            <a:ext cx="9148867" cy="9148867"/>
          </a:xfrm>
          <a:custGeom>
            <a:avLst/>
            <a:gdLst/>
            <a:ahLst/>
            <a:cxnLst/>
            <a:rect l="l" t="t" r="r" b="b"/>
            <a:pathLst>
              <a:path w="9148867" h="9148867">
                <a:moveTo>
                  <a:pt x="0" y="0"/>
                </a:moveTo>
                <a:lnTo>
                  <a:pt x="9148868" y="0"/>
                </a:lnTo>
                <a:lnTo>
                  <a:pt x="9148868" y="9148867"/>
                </a:lnTo>
                <a:lnTo>
                  <a:pt x="0" y="91488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9144000" y="5733209"/>
            <a:ext cx="8543873" cy="1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4790194" y="694484"/>
            <a:ext cx="14302771" cy="5038725"/>
            <a:chOff x="0" y="0"/>
            <a:chExt cx="19715416" cy="69455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715421" cy="6945545"/>
            </a:xfrm>
            <a:custGeom>
              <a:avLst/>
              <a:gdLst/>
              <a:ahLst/>
              <a:cxnLst/>
              <a:rect l="l" t="t" r="r" b="b"/>
              <a:pathLst>
                <a:path w="19715421" h="6945545">
                  <a:moveTo>
                    <a:pt x="0" y="0"/>
                  </a:moveTo>
                  <a:lnTo>
                    <a:pt x="19715421" y="0"/>
                  </a:lnTo>
                  <a:lnTo>
                    <a:pt x="19715421" y="6945545"/>
                  </a:lnTo>
                  <a:lnTo>
                    <a:pt x="0" y="69455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67" r="22876" b="114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8575"/>
              <a:ext cx="19715416" cy="691697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8640"/>
                </a:lnSpc>
              </a:pPr>
              <a:r>
                <a:rPr lang="en-US" sz="9000" b="1" spc="150">
                  <a:solidFill>
                    <a:srgbClr val="000000"/>
                  </a:solidFill>
                  <a:latin typeface="Times New Roman MT Ultra-Bold"/>
                  <a:ea typeface="Times New Roman MT Ultra-Bold"/>
                  <a:cs typeface="Times New Roman MT Ultra-Bold"/>
                  <a:sym typeface="Times New Roman MT Ultra-Bold"/>
                </a:rPr>
                <a:t>Sleep Stage Classification from PSG Signals using Deep Learning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8869" y="5943600"/>
            <a:ext cx="9896471" cy="434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spc="1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3ʳᵈ BME , Biomedical Signal Processing.</a:t>
            </a:r>
          </a:p>
          <a:p>
            <a:pPr algn="l">
              <a:lnSpc>
                <a:spcPts val="4320"/>
              </a:lnSpc>
            </a:pPr>
            <a:r>
              <a:rPr lang="en-US" sz="3600" spc="14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By : Ahmed Essam , Basel Ashraf </a:t>
            </a:r>
          </a:p>
          <a:p>
            <a:pPr algn="l">
              <a:lnSpc>
                <a:spcPts val="4320"/>
              </a:lnSpc>
            </a:pPr>
            <a:r>
              <a:rPr lang="en-US" sz="3600" spc="1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, Mohamed Wael. </a:t>
            </a:r>
          </a:p>
          <a:p>
            <a:pPr algn="l">
              <a:lnSpc>
                <a:spcPts val="4320"/>
              </a:lnSpc>
            </a:pPr>
            <a:endParaRPr lang="en-US" sz="3600" spc="14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320"/>
              </a:lnSpc>
            </a:pPr>
            <a:r>
              <a:rPr lang="en-US" sz="3600" spc="1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Under Supervision of : </a:t>
            </a:r>
          </a:p>
          <a:p>
            <a:pPr algn="l">
              <a:lnSpc>
                <a:spcPts val="4320"/>
              </a:lnSpc>
            </a:pPr>
            <a:r>
              <a:rPr lang="en-US" sz="3600" spc="1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Dr. Ibrahim Sadek</a:t>
            </a:r>
          </a:p>
          <a:p>
            <a:pPr algn="l">
              <a:lnSpc>
                <a:spcPts val="4320"/>
              </a:lnSpc>
            </a:pPr>
            <a:r>
              <a:rPr lang="en-US" sz="3600" spc="1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Eng. Mirna Ahmed</a:t>
            </a:r>
          </a:p>
          <a:p>
            <a:pPr algn="l">
              <a:lnSpc>
                <a:spcPts val="4320"/>
              </a:lnSpc>
            </a:pPr>
            <a:r>
              <a:rPr lang="en-US" sz="3600" spc="1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Eng. Veronica William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891540" y="2659084"/>
            <a:ext cx="3354997" cy="1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556969" y="2251811"/>
            <a:ext cx="7458765" cy="6467326"/>
          </a:xfrm>
          <a:custGeom>
            <a:avLst/>
            <a:gdLst/>
            <a:ahLst/>
            <a:cxnLst/>
            <a:rect l="l" t="t" r="r" b="b"/>
            <a:pathLst>
              <a:path w="7458765" h="6467326">
                <a:moveTo>
                  <a:pt x="0" y="0"/>
                </a:moveTo>
                <a:lnTo>
                  <a:pt x="7458764" y="0"/>
                </a:lnTo>
                <a:lnTo>
                  <a:pt x="7458764" y="6467325"/>
                </a:lnTo>
                <a:lnTo>
                  <a:pt x="0" y="64673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92" r="-139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3300186" y="0"/>
            <a:ext cx="4987814" cy="4987814"/>
          </a:xfrm>
          <a:custGeom>
            <a:avLst/>
            <a:gdLst/>
            <a:ahLst/>
            <a:cxnLst/>
            <a:rect l="l" t="t" r="r" b="b"/>
            <a:pathLst>
              <a:path w="4987814" h="4987814">
                <a:moveTo>
                  <a:pt x="0" y="0"/>
                </a:moveTo>
                <a:lnTo>
                  <a:pt x="4987814" y="0"/>
                </a:lnTo>
                <a:lnTo>
                  <a:pt x="4987814" y="4987814"/>
                </a:lnTo>
                <a:lnTo>
                  <a:pt x="0" y="49878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891540" y="297609"/>
            <a:ext cx="16459200" cy="2361475"/>
            <a:chOff x="0" y="0"/>
            <a:chExt cx="21945600" cy="31486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3148633"/>
            </a:xfrm>
            <a:custGeom>
              <a:avLst/>
              <a:gdLst/>
              <a:ahLst/>
              <a:cxnLst/>
              <a:rect l="l" t="t" r="r" b="b"/>
              <a:pathLst>
                <a:path w="21945600" h="3148633">
                  <a:moveTo>
                    <a:pt x="0" y="0"/>
                  </a:moveTo>
                  <a:lnTo>
                    <a:pt x="21945600" y="0"/>
                  </a:lnTo>
                  <a:lnTo>
                    <a:pt x="21945600" y="3148633"/>
                  </a:lnTo>
                  <a:lnTo>
                    <a:pt x="0" y="31486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5808" b="-858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21945600" cy="312958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6336"/>
                </a:lnSpc>
              </a:pPr>
              <a:r>
                <a:rPr lang="en-US" sz="6600" b="1" spc="150">
                  <a:solidFill>
                    <a:srgbClr val="000000"/>
                  </a:solidFill>
                  <a:latin typeface="Times New Roman MT Ultra-Bold"/>
                  <a:ea typeface="Times New Roman MT Ultra-Bold"/>
                  <a:cs typeface="Times New Roman MT Ultra-Bold"/>
                  <a:sym typeface="Times New Roman MT Ultra-Bold"/>
                </a:rPr>
                <a:t>Project Description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17670" y="2969706"/>
            <a:ext cx="8396756" cy="4907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314" lvl="1" indent="-377657" algn="l">
              <a:lnSpc>
                <a:spcPts val="4897"/>
              </a:lnSpc>
              <a:buFont typeface="Arial"/>
              <a:buChar char="•"/>
            </a:pPr>
            <a:r>
              <a:rPr lang="en-US" sz="3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Implementing a deep learning classifier to classify the sleep stages from a single channel PSG signal.</a:t>
            </a:r>
          </a:p>
          <a:p>
            <a:pPr marL="755314" lvl="1" indent="-377657" algn="l">
              <a:lnSpc>
                <a:spcPts val="4897"/>
              </a:lnSpc>
              <a:buFont typeface="Arial"/>
              <a:buChar char="•"/>
            </a:pPr>
            <a:r>
              <a:rPr lang="en-US" sz="34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stages were classified as WK (wakefulness) , NREM (non-rapid eye movement /Normal), REM (rapid eye movement).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44050" y="0"/>
            <a:ext cx="8743950" cy="4853407"/>
          </a:xfrm>
          <a:custGeom>
            <a:avLst/>
            <a:gdLst/>
            <a:ahLst/>
            <a:cxnLst/>
            <a:rect l="l" t="t" r="r" b="b"/>
            <a:pathLst>
              <a:path w="8743950" h="4853407">
                <a:moveTo>
                  <a:pt x="0" y="0"/>
                </a:moveTo>
                <a:lnTo>
                  <a:pt x="8743950" y="0"/>
                </a:lnTo>
                <a:lnTo>
                  <a:pt x="8743950" y="4853407"/>
                </a:lnTo>
                <a:lnTo>
                  <a:pt x="0" y="4853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891540" y="2674620"/>
            <a:ext cx="3324518" cy="0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91540" y="284359"/>
            <a:ext cx="10181625" cy="2390260"/>
            <a:chOff x="0" y="0"/>
            <a:chExt cx="13575500" cy="31870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575494" cy="3187014"/>
            </a:xfrm>
            <a:custGeom>
              <a:avLst/>
              <a:gdLst/>
              <a:ahLst/>
              <a:cxnLst/>
              <a:rect l="l" t="t" r="r" b="b"/>
              <a:pathLst>
                <a:path w="13575494" h="3187014">
                  <a:moveTo>
                    <a:pt x="0" y="0"/>
                  </a:moveTo>
                  <a:lnTo>
                    <a:pt x="13575494" y="0"/>
                  </a:lnTo>
                  <a:lnTo>
                    <a:pt x="13575494" y="3187014"/>
                  </a:lnTo>
                  <a:lnTo>
                    <a:pt x="0" y="31870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999" b="-3299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13575500" cy="316796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6336"/>
                </a:lnSpc>
              </a:pPr>
              <a:r>
                <a:rPr lang="en-US" sz="6600" b="1" spc="75">
                  <a:solidFill>
                    <a:srgbClr val="000000"/>
                  </a:solidFill>
                  <a:latin typeface="Times New Roman MT Ultra-Bold"/>
                  <a:ea typeface="Times New Roman MT Ultra-Bold"/>
                  <a:cs typeface="Times New Roman MT Ultra-Bold"/>
                  <a:sym typeface="Times New Roman MT Ultra-Bold"/>
                </a:rPr>
                <a:t>Content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91540" y="3159857"/>
            <a:ext cx="11524351" cy="3509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6912" lvl="1" indent="-368456" algn="l">
              <a:lnSpc>
                <a:spcPts val="3911"/>
              </a:lnSpc>
              <a:buFont typeface="Arial"/>
              <a:buChar char="•"/>
            </a:pPr>
            <a:r>
              <a:rPr lang="en-US" sz="407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</a:t>
            </a:r>
          </a:p>
          <a:p>
            <a:pPr algn="l">
              <a:lnSpc>
                <a:spcPts val="3911"/>
              </a:lnSpc>
            </a:pPr>
            <a:endParaRPr lang="en-US" sz="4074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736912" lvl="1" indent="-368456" algn="l">
              <a:lnSpc>
                <a:spcPts val="3911"/>
              </a:lnSpc>
              <a:buFont typeface="Arial"/>
              <a:buChar char="•"/>
            </a:pPr>
            <a:r>
              <a:rPr lang="en-US" sz="407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Dataset Description</a:t>
            </a:r>
          </a:p>
          <a:p>
            <a:pPr algn="l">
              <a:lnSpc>
                <a:spcPts val="3911"/>
              </a:lnSpc>
            </a:pPr>
            <a:endParaRPr lang="en-US" sz="4074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736912" lvl="1" indent="-368456" algn="l">
              <a:lnSpc>
                <a:spcPts val="3911"/>
              </a:lnSpc>
              <a:buFont typeface="Arial"/>
              <a:buChar char="•"/>
            </a:pPr>
            <a:r>
              <a:rPr lang="en-US" sz="407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Project Workflow</a:t>
            </a:r>
          </a:p>
          <a:p>
            <a:pPr algn="l">
              <a:lnSpc>
                <a:spcPts val="3911"/>
              </a:lnSpc>
            </a:pPr>
            <a:endParaRPr lang="en-US" sz="4074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736912" lvl="1" indent="-368456" algn="l">
              <a:lnSpc>
                <a:spcPts val="3911"/>
              </a:lnSpc>
              <a:buFont typeface="Arial"/>
              <a:buChar char="•"/>
            </a:pPr>
            <a:r>
              <a:rPr lang="en-US" sz="407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850198"/>
            <a:ext cx="4438840" cy="4438840"/>
          </a:xfrm>
          <a:custGeom>
            <a:avLst/>
            <a:gdLst/>
            <a:ahLst/>
            <a:cxnLst/>
            <a:rect l="l" t="t" r="r" b="b"/>
            <a:pathLst>
              <a:path w="4438840" h="4438840">
                <a:moveTo>
                  <a:pt x="0" y="0"/>
                </a:moveTo>
                <a:lnTo>
                  <a:pt x="4438840" y="0"/>
                </a:lnTo>
                <a:lnTo>
                  <a:pt x="4438840" y="4438840"/>
                </a:lnTo>
                <a:lnTo>
                  <a:pt x="0" y="44388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4438840" y="9039227"/>
            <a:ext cx="5836839" cy="0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4438840" y="9039227"/>
            <a:ext cx="13849160" cy="1257429"/>
            <a:chOff x="0" y="0"/>
            <a:chExt cx="18465546" cy="167657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65546" cy="1676578"/>
            </a:xfrm>
            <a:custGeom>
              <a:avLst/>
              <a:gdLst/>
              <a:ahLst/>
              <a:cxnLst/>
              <a:rect l="l" t="t" r="r" b="b"/>
              <a:pathLst>
                <a:path w="18465546" h="1676578">
                  <a:moveTo>
                    <a:pt x="0" y="0"/>
                  </a:moveTo>
                  <a:lnTo>
                    <a:pt x="18465546" y="0"/>
                  </a:lnTo>
                  <a:lnTo>
                    <a:pt x="18465546" y="1676578"/>
                  </a:lnTo>
                  <a:lnTo>
                    <a:pt x="0" y="16765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8141" r="-5909" b="-21643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18465546" cy="1657523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just">
                <a:lnSpc>
                  <a:spcPts val="5856"/>
                </a:lnSpc>
              </a:pPr>
              <a:r>
                <a:rPr lang="en-US" sz="6100" b="1" spc="138">
                  <a:solidFill>
                    <a:srgbClr val="000000"/>
                  </a:solidFill>
                  <a:latin typeface="Times New Roman MT Ultra-Bold"/>
                  <a:ea typeface="Times New Roman MT Ultra-Bold"/>
                  <a:cs typeface="Times New Roman MT Ultra-Bold"/>
                  <a:sym typeface="Times New Roman MT Ultra-Bold"/>
                </a:rPr>
                <a:t>Introduction 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962025"/>
            <a:ext cx="16230600" cy="4442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6302" lvl="1" indent="-388151" algn="l">
              <a:lnSpc>
                <a:spcPts val="5033"/>
              </a:lnSpc>
              <a:buFont typeface="Arial"/>
              <a:buChar char="•"/>
            </a:pPr>
            <a:r>
              <a:rPr lang="en-US" sz="3595" spc="7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current standard for the sleep quality is the polysomnography (PSG) which record various biological signals including EEG , ECG , EMG and EOG.</a:t>
            </a:r>
          </a:p>
          <a:p>
            <a:pPr marL="776302" lvl="1" indent="-388151" algn="l">
              <a:lnSpc>
                <a:spcPts val="5033"/>
              </a:lnSpc>
              <a:buFont typeface="Arial"/>
              <a:buChar char="•"/>
            </a:pPr>
            <a:r>
              <a:rPr lang="en-US" sz="3595" spc="7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 provides a high accuracy classification ,but it requires attached electrodes for  measurement which interrupts sleep .</a:t>
            </a:r>
          </a:p>
          <a:p>
            <a:pPr marL="776302" lvl="1" indent="-388151" algn="l">
              <a:lnSpc>
                <a:spcPts val="5033"/>
              </a:lnSpc>
              <a:buFont typeface="Arial"/>
              <a:buChar char="•"/>
            </a:pPr>
            <a:r>
              <a:rPr lang="en-US" sz="3595" spc="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requires specialized laps which is expensive and not suitable for home-use.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438840" y="9039227"/>
            <a:ext cx="5836839" cy="0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4438841" y="9039227"/>
            <a:ext cx="13849160" cy="1257429"/>
            <a:chOff x="0" y="0"/>
            <a:chExt cx="18465546" cy="16765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465546" cy="1676578"/>
            </a:xfrm>
            <a:custGeom>
              <a:avLst/>
              <a:gdLst/>
              <a:ahLst/>
              <a:cxnLst/>
              <a:rect l="l" t="t" r="r" b="b"/>
              <a:pathLst>
                <a:path w="18465546" h="1676578">
                  <a:moveTo>
                    <a:pt x="0" y="0"/>
                  </a:moveTo>
                  <a:lnTo>
                    <a:pt x="18465546" y="0"/>
                  </a:lnTo>
                  <a:lnTo>
                    <a:pt x="18465546" y="1676578"/>
                  </a:lnTo>
                  <a:lnTo>
                    <a:pt x="0" y="16765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8141" r="-5909" b="-21643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18465546" cy="1657523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just">
                <a:lnSpc>
                  <a:spcPts val="5856"/>
                </a:lnSpc>
              </a:pPr>
              <a:r>
                <a:rPr lang="en-US" sz="6100" b="1" spc="138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Dataset Description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5850198"/>
            <a:ext cx="4438840" cy="4438840"/>
          </a:xfrm>
          <a:custGeom>
            <a:avLst/>
            <a:gdLst/>
            <a:ahLst/>
            <a:cxnLst/>
            <a:rect l="l" t="t" r="r" b="b"/>
            <a:pathLst>
              <a:path w="4438840" h="4438840">
                <a:moveTo>
                  <a:pt x="0" y="0"/>
                </a:moveTo>
                <a:lnTo>
                  <a:pt x="4438840" y="0"/>
                </a:lnTo>
                <a:lnTo>
                  <a:pt x="4438840" y="4438840"/>
                </a:lnTo>
                <a:lnTo>
                  <a:pt x="0" y="44388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962025"/>
            <a:ext cx="16230600" cy="5718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6302" lvl="1" indent="-388151" algn="l">
              <a:lnSpc>
                <a:spcPts val="5033"/>
              </a:lnSpc>
              <a:buFont typeface="Arial"/>
              <a:buChar char="•"/>
            </a:pPr>
            <a:r>
              <a:rPr lang="en-US" sz="3595" spc="7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Dataset is gathered from more than 2000 patients with different races.</a:t>
            </a:r>
          </a:p>
          <a:p>
            <a:pPr marL="776302" lvl="1" indent="-388151" algn="l">
              <a:lnSpc>
                <a:spcPts val="5033"/>
              </a:lnSpc>
              <a:buFont typeface="Arial"/>
              <a:buChar char="•"/>
            </a:pPr>
            <a:r>
              <a:rPr lang="en-US" sz="3595" spc="7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dataset have the signals and the annotations for each patient , the signal files is in .edf format (European Default Format) which contains all the biological signals be measured .</a:t>
            </a:r>
          </a:p>
          <a:p>
            <a:pPr marL="776302" lvl="1" indent="-388151" algn="l">
              <a:lnSpc>
                <a:spcPts val="5033"/>
              </a:lnSpc>
              <a:buFont typeface="Arial"/>
              <a:buChar char="•"/>
            </a:pPr>
            <a:r>
              <a:rPr lang="en-US" sz="3595" spc="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annotations files is in .xml format (Extensible Markup Language) which is containing the labels for each segment, which is a Hierarchical Architecture easy for us to read and easy for computer to understand 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438840" y="9039227"/>
            <a:ext cx="5836839" cy="0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4438841" y="9039227"/>
            <a:ext cx="13849160" cy="1257429"/>
            <a:chOff x="0" y="0"/>
            <a:chExt cx="18465546" cy="16765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465546" cy="1676578"/>
            </a:xfrm>
            <a:custGeom>
              <a:avLst/>
              <a:gdLst/>
              <a:ahLst/>
              <a:cxnLst/>
              <a:rect l="l" t="t" r="r" b="b"/>
              <a:pathLst>
                <a:path w="18465546" h="1676578">
                  <a:moveTo>
                    <a:pt x="0" y="0"/>
                  </a:moveTo>
                  <a:lnTo>
                    <a:pt x="18465546" y="0"/>
                  </a:lnTo>
                  <a:lnTo>
                    <a:pt x="18465546" y="1676578"/>
                  </a:lnTo>
                  <a:lnTo>
                    <a:pt x="0" y="16765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8141" r="-5909" b="-21643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18465546" cy="1657523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just">
                <a:lnSpc>
                  <a:spcPts val="5856"/>
                </a:lnSpc>
              </a:pPr>
              <a:r>
                <a:rPr lang="en-US" sz="6100" b="1" spc="138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Dataset Description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5850198"/>
            <a:ext cx="4438840" cy="4438840"/>
          </a:xfrm>
          <a:custGeom>
            <a:avLst/>
            <a:gdLst/>
            <a:ahLst/>
            <a:cxnLst/>
            <a:rect l="l" t="t" r="r" b="b"/>
            <a:pathLst>
              <a:path w="4438840" h="4438840">
                <a:moveTo>
                  <a:pt x="0" y="0"/>
                </a:moveTo>
                <a:lnTo>
                  <a:pt x="4438840" y="0"/>
                </a:lnTo>
                <a:lnTo>
                  <a:pt x="4438840" y="4438840"/>
                </a:lnTo>
                <a:lnTo>
                  <a:pt x="0" y="44388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4438841" y="2412804"/>
          <a:ext cx="8362760" cy="5461392"/>
        </p:xfrm>
        <a:graphic>
          <a:graphicData uri="http://schemas.openxmlformats.org/drawingml/2006/table">
            <a:tbl>
              <a:tblPr/>
              <a:tblGrid>
                <a:gridCol w="4181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1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65348">
                <a:tc>
                  <a:txBody>
                    <a:bodyPr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Parameter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Value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5348">
                <a:tc>
                  <a:txBody>
                    <a:bodyPr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Patient_id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1F1F1F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mesa-sleep-xxxx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5348">
                <a:tc>
                  <a:txBody>
                    <a:bodyPr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Sampling Rate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256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5348">
                <a:tc>
                  <a:txBody>
                    <a:bodyPr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Channels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EEG,EOG,.....EKG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1028700" y="962025"/>
            <a:ext cx="16230600" cy="613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6302" lvl="1" indent="-388151" algn="l">
              <a:lnSpc>
                <a:spcPts val="5033"/>
              </a:lnSpc>
              <a:buFont typeface="Arial"/>
              <a:buChar char="•"/>
            </a:pPr>
            <a:r>
              <a:rPr lang="en-US" sz="3595" spc="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EDF file example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438840" y="9039227"/>
            <a:ext cx="5836839" cy="0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4438841" y="9039227"/>
            <a:ext cx="13849160" cy="1257429"/>
            <a:chOff x="0" y="0"/>
            <a:chExt cx="18465546" cy="16765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465546" cy="1676578"/>
            </a:xfrm>
            <a:custGeom>
              <a:avLst/>
              <a:gdLst/>
              <a:ahLst/>
              <a:cxnLst/>
              <a:rect l="l" t="t" r="r" b="b"/>
              <a:pathLst>
                <a:path w="18465546" h="1676578">
                  <a:moveTo>
                    <a:pt x="0" y="0"/>
                  </a:moveTo>
                  <a:lnTo>
                    <a:pt x="18465546" y="0"/>
                  </a:lnTo>
                  <a:lnTo>
                    <a:pt x="18465546" y="1676578"/>
                  </a:lnTo>
                  <a:lnTo>
                    <a:pt x="0" y="16765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8141" r="-5909" b="-21643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18465546" cy="1657523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just">
                <a:lnSpc>
                  <a:spcPts val="5856"/>
                </a:lnSpc>
              </a:pPr>
              <a:r>
                <a:rPr lang="en-US" sz="6100" b="1" spc="138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Dataset Description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5850198"/>
            <a:ext cx="4438840" cy="4438840"/>
          </a:xfrm>
          <a:custGeom>
            <a:avLst/>
            <a:gdLst/>
            <a:ahLst/>
            <a:cxnLst/>
            <a:rect l="l" t="t" r="r" b="b"/>
            <a:pathLst>
              <a:path w="4438840" h="4438840">
                <a:moveTo>
                  <a:pt x="0" y="0"/>
                </a:moveTo>
                <a:lnTo>
                  <a:pt x="4438840" y="0"/>
                </a:lnTo>
                <a:lnTo>
                  <a:pt x="4438840" y="4438840"/>
                </a:lnTo>
                <a:lnTo>
                  <a:pt x="0" y="44388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4438840" y="1866900"/>
          <a:ext cx="12820460" cy="6553200"/>
        </p:xfrm>
        <a:graphic>
          <a:graphicData uri="http://schemas.openxmlformats.org/drawingml/2006/table">
            <a:tbl>
              <a:tblPr/>
              <a:tblGrid>
                <a:gridCol w="3205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5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5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5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92200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Time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EKG (mV)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EEG1 (uV)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...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2200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0.004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0.012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-12.8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...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2200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0.008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0.015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-14.4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...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2200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0.012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0.045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-18.3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...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2200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0.016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0.12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2.7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...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92200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0.02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0.65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8.4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...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1028700" y="962025"/>
            <a:ext cx="16230600" cy="613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6302" lvl="1" indent="-388151" algn="l">
              <a:lnSpc>
                <a:spcPts val="5033"/>
              </a:lnSpc>
              <a:buFont typeface="Arial"/>
              <a:buChar char="•"/>
            </a:pPr>
            <a:r>
              <a:rPr lang="en-US" sz="3595" spc="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EDF file example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850198"/>
            <a:ext cx="4438840" cy="4438840"/>
          </a:xfrm>
          <a:custGeom>
            <a:avLst/>
            <a:gdLst/>
            <a:ahLst/>
            <a:cxnLst/>
            <a:rect l="l" t="t" r="r" b="b"/>
            <a:pathLst>
              <a:path w="4438840" h="4438840">
                <a:moveTo>
                  <a:pt x="0" y="0"/>
                </a:moveTo>
                <a:lnTo>
                  <a:pt x="4438840" y="0"/>
                </a:lnTo>
                <a:lnTo>
                  <a:pt x="4438840" y="4438840"/>
                </a:lnTo>
                <a:lnTo>
                  <a:pt x="0" y="44388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4438840" y="9039227"/>
            <a:ext cx="5836839" cy="0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4438840" y="9039227"/>
            <a:ext cx="13849160" cy="1257429"/>
            <a:chOff x="0" y="0"/>
            <a:chExt cx="18465546" cy="167657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65546" cy="1676578"/>
            </a:xfrm>
            <a:custGeom>
              <a:avLst/>
              <a:gdLst/>
              <a:ahLst/>
              <a:cxnLst/>
              <a:rect l="l" t="t" r="r" b="b"/>
              <a:pathLst>
                <a:path w="18465546" h="1676578">
                  <a:moveTo>
                    <a:pt x="0" y="0"/>
                  </a:moveTo>
                  <a:lnTo>
                    <a:pt x="18465546" y="0"/>
                  </a:lnTo>
                  <a:lnTo>
                    <a:pt x="18465546" y="1676578"/>
                  </a:lnTo>
                  <a:lnTo>
                    <a:pt x="0" y="16765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8141" r="-5909" b="-21643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18465546" cy="1657523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just">
                <a:lnSpc>
                  <a:spcPts val="5856"/>
                </a:lnSpc>
              </a:pPr>
              <a:r>
                <a:rPr lang="en-US" sz="6100" b="1" spc="138">
                  <a:solidFill>
                    <a:srgbClr val="000000"/>
                  </a:solidFill>
                  <a:latin typeface="Times New Roman MT Ultra-Bold"/>
                  <a:ea typeface="Times New Roman MT Ultra-Bold"/>
                  <a:cs typeface="Times New Roman MT Ultra-Bold"/>
                  <a:sym typeface="Times New Roman MT Ultra-Bold"/>
                </a:rPr>
                <a:t>Reference Paper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962025"/>
            <a:ext cx="16230600" cy="2528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3"/>
              </a:lnSpc>
            </a:pPr>
            <a:r>
              <a:rPr lang="en-US" sz="3595" spc="7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From the dataset we are working on :</a:t>
            </a:r>
          </a:p>
          <a:p>
            <a:pPr algn="l">
              <a:lnSpc>
                <a:spcPts val="5033"/>
              </a:lnSpc>
            </a:pPr>
            <a:endParaRPr lang="en-US" sz="3595" spc="7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76302" lvl="1" indent="-388151" algn="l">
              <a:lnSpc>
                <a:spcPts val="5033"/>
              </a:lnSpc>
              <a:buFont typeface="Arial"/>
              <a:buChar char="•"/>
            </a:pPr>
            <a:r>
              <a:rPr lang="en-US" sz="3595" spc="7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 patients with there annotations.</a:t>
            </a:r>
          </a:p>
          <a:p>
            <a:pPr marL="776302" lvl="1" indent="-388151" algn="l">
              <a:lnSpc>
                <a:spcPts val="5033"/>
              </a:lnSpc>
              <a:buFont typeface="Arial"/>
              <a:buChar char="•"/>
            </a:pPr>
            <a:r>
              <a:rPr lang="en-US" sz="3595" spc="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Working on a single channel from the data set (EKG)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1540" y="0"/>
            <a:ext cx="14667548" cy="2241894"/>
            <a:chOff x="0" y="0"/>
            <a:chExt cx="19556730" cy="29891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556730" cy="2989198"/>
            </a:xfrm>
            <a:custGeom>
              <a:avLst/>
              <a:gdLst/>
              <a:ahLst/>
              <a:cxnLst/>
              <a:rect l="l" t="t" r="r" b="b"/>
              <a:pathLst>
                <a:path w="19556730" h="2989198">
                  <a:moveTo>
                    <a:pt x="0" y="0"/>
                  </a:moveTo>
                  <a:lnTo>
                    <a:pt x="19556730" y="0"/>
                  </a:lnTo>
                  <a:lnTo>
                    <a:pt x="19556730" y="2989198"/>
                  </a:lnTo>
                  <a:lnTo>
                    <a:pt x="0" y="29891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7480" b="-7748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19556730" cy="297014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6336"/>
                </a:lnSpc>
              </a:pPr>
              <a:r>
                <a:rPr lang="en-US" sz="6600" b="1" spc="150">
                  <a:solidFill>
                    <a:srgbClr val="000000"/>
                  </a:solidFill>
                  <a:latin typeface="Times New Roman MT Ultra-Bold"/>
                  <a:ea typeface="Times New Roman MT Ultra-Bold"/>
                  <a:cs typeface="Times New Roman MT Ultra-Bold"/>
                  <a:sym typeface="Times New Roman MT Ultra-Bold"/>
                </a:rPr>
                <a:t>Project Workflow</a:t>
              </a:r>
            </a:p>
          </p:txBody>
        </p:sp>
      </p:grpSp>
      <p:sp>
        <p:nvSpPr>
          <p:cNvPr id="5" name="AutoShape 5"/>
          <p:cNvSpPr/>
          <p:nvPr/>
        </p:nvSpPr>
        <p:spPr>
          <a:xfrm>
            <a:off x="891540" y="2279994"/>
            <a:ext cx="3302849" cy="0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28700" y="2346438"/>
            <a:ext cx="15047147" cy="7448338"/>
          </a:xfrm>
          <a:custGeom>
            <a:avLst/>
            <a:gdLst/>
            <a:ahLst/>
            <a:cxnLst/>
            <a:rect l="l" t="t" r="r" b="b"/>
            <a:pathLst>
              <a:path w="15047147" h="7448338">
                <a:moveTo>
                  <a:pt x="0" y="0"/>
                </a:moveTo>
                <a:lnTo>
                  <a:pt x="15047147" y="0"/>
                </a:lnTo>
                <a:lnTo>
                  <a:pt x="15047147" y="7448338"/>
                </a:lnTo>
                <a:lnTo>
                  <a:pt x="0" y="74483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663384" y="2346438"/>
            <a:ext cx="15345064" cy="7595806"/>
          </a:xfrm>
          <a:custGeom>
            <a:avLst/>
            <a:gdLst/>
            <a:ahLst/>
            <a:cxnLst/>
            <a:rect l="l" t="t" r="r" b="b"/>
            <a:pathLst>
              <a:path w="15345064" h="7595806">
                <a:moveTo>
                  <a:pt x="0" y="0"/>
                </a:moveTo>
                <a:lnTo>
                  <a:pt x="15345064" y="0"/>
                </a:lnTo>
                <a:lnTo>
                  <a:pt x="15345064" y="7595807"/>
                </a:lnTo>
                <a:lnTo>
                  <a:pt x="0" y="75958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3305063" y="0"/>
            <a:ext cx="4987814" cy="4987814"/>
          </a:xfrm>
          <a:custGeom>
            <a:avLst/>
            <a:gdLst/>
            <a:ahLst/>
            <a:cxnLst/>
            <a:rect l="l" t="t" r="r" b="b"/>
            <a:pathLst>
              <a:path w="4987814" h="4987814">
                <a:moveTo>
                  <a:pt x="0" y="0"/>
                </a:moveTo>
                <a:lnTo>
                  <a:pt x="4987814" y="0"/>
                </a:lnTo>
                <a:lnTo>
                  <a:pt x="4987814" y="4987814"/>
                </a:lnTo>
                <a:lnTo>
                  <a:pt x="0" y="49878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1540" y="2697185"/>
            <a:ext cx="3302849" cy="0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891540" y="417195"/>
            <a:ext cx="7219875" cy="2241894"/>
            <a:chOff x="0" y="0"/>
            <a:chExt cx="9626500" cy="29891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626500" cy="2989198"/>
            </a:xfrm>
            <a:custGeom>
              <a:avLst/>
              <a:gdLst/>
              <a:ahLst/>
              <a:cxnLst/>
              <a:rect l="l" t="t" r="r" b="b"/>
              <a:pathLst>
                <a:path w="9626500" h="2989198">
                  <a:moveTo>
                    <a:pt x="0" y="0"/>
                  </a:moveTo>
                  <a:lnTo>
                    <a:pt x="9626500" y="0"/>
                  </a:lnTo>
                  <a:lnTo>
                    <a:pt x="9626500" y="2989198"/>
                  </a:lnTo>
                  <a:lnTo>
                    <a:pt x="0" y="29891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7480" r="-103155" b="-7748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9626500" cy="297014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6336"/>
                </a:lnSpc>
              </a:pPr>
              <a:r>
                <a:rPr lang="en-US" sz="6600" b="1" spc="150">
                  <a:solidFill>
                    <a:srgbClr val="000000"/>
                  </a:solidFill>
                  <a:latin typeface="Times New Roman MT Ultra-Bold"/>
                  <a:ea typeface="Times New Roman MT Ultra-Bold"/>
                  <a:cs typeface="Times New Roman MT Ultra-Bold"/>
                  <a:sym typeface="Times New Roman MT Ultra-Bold"/>
                </a:rPr>
                <a:t>Raw ECG Signal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91540" y="3546281"/>
            <a:ext cx="9632655" cy="1920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0"/>
              </a:lnSpc>
            </a:pPr>
            <a:r>
              <a:rPr lang="en-US" sz="352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Using mne Library in python which reads , pre-process and visualize physiological data. </a:t>
            </a:r>
          </a:p>
          <a:p>
            <a:pPr algn="l">
              <a:lnSpc>
                <a:spcPts val="3810"/>
              </a:lnSpc>
            </a:pPr>
            <a:r>
              <a:rPr lang="en-US" sz="352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extracting the needed EKG signal from each patient. 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950731" y="3463290"/>
            <a:ext cx="4901208" cy="5795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 spc="81">
                <a:solidFill>
                  <a:srgbClr val="000000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X shape: (12758, 7680)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 spc="81">
                <a:solidFill>
                  <a:srgbClr val="000000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y shape: (12758,)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endParaRPr lang="en-US" sz="3600" b="1" spc="81">
              <a:solidFill>
                <a:srgbClr val="000000"/>
              </a:solidFill>
              <a:latin typeface="Times New Roman MT Ultra-Bold"/>
              <a:ea typeface="Times New Roman MT Ultra-Bold"/>
              <a:cs typeface="Times New Roman MT Ultra-Bold"/>
              <a:sym typeface="Times New Roman MT Ultra-Bold"/>
            </a:endParaRP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 spc="81">
                <a:solidFill>
                  <a:srgbClr val="000000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Class distribution: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 spc="81">
                <a:solidFill>
                  <a:srgbClr val="000000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Wake : 5569 ( 43.65 %)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 spc="81">
                <a:solidFill>
                  <a:srgbClr val="000000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N1 : 942 ( 7.38 %)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 spc="81">
                <a:solidFill>
                  <a:srgbClr val="000000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N2 : 4117 ( 32.27 %)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 spc="81">
                <a:solidFill>
                  <a:srgbClr val="000000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N3 : 869 ( 6.81 %)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 spc="81">
                <a:solidFill>
                  <a:srgbClr val="000000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REM : 1261 ( 9.88 %)</a:t>
            </a:r>
          </a:p>
        </p:txBody>
      </p:sp>
      <p:sp>
        <p:nvSpPr>
          <p:cNvPr id="8" name="Freeform 8"/>
          <p:cNvSpPr/>
          <p:nvPr/>
        </p:nvSpPr>
        <p:spPr>
          <a:xfrm>
            <a:off x="420320" y="2900563"/>
            <a:ext cx="16976140" cy="6969238"/>
          </a:xfrm>
          <a:custGeom>
            <a:avLst/>
            <a:gdLst/>
            <a:ahLst/>
            <a:cxnLst/>
            <a:rect l="l" t="t" r="r" b="b"/>
            <a:pathLst>
              <a:path w="16614340" h="6357737">
                <a:moveTo>
                  <a:pt x="0" y="0"/>
                </a:moveTo>
                <a:lnTo>
                  <a:pt x="16614340" y="0"/>
                </a:lnTo>
                <a:lnTo>
                  <a:pt x="16614340" y="6357737"/>
                </a:lnTo>
                <a:lnTo>
                  <a:pt x="0" y="6357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4" r="-946" b="-357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3305063" y="0"/>
            <a:ext cx="4987814" cy="4987814"/>
          </a:xfrm>
          <a:custGeom>
            <a:avLst/>
            <a:gdLst/>
            <a:ahLst/>
            <a:cxnLst/>
            <a:rect l="l" t="t" r="r" b="b"/>
            <a:pathLst>
              <a:path w="4987814" h="4987814">
                <a:moveTo>
                  <a:pt x="0" y="0"/>
                </a:moveTo>
                <a:lnTo>
                  <a:pt x="4987814" y="0"/>
                </a:lnTo>
                <a:lnTo>
                  <a:pt x="4987814" y="4987814"/>
                </a:lnTo>
                <a:lnTo>
                  <a:pt x="0" y="49878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05063" y="0"/>
            <a:ext cx="4987814" cy="4987814"/>
          </a:xfrm>
          <a:custGeom>
            <a:avLst/>
            <a:gdLst/>
            <a:ahLst/>
            <a:cxnLst/>
            <a:rect l="l" t="t" r="r" b="b"/>
            <a:pathLst>
              <a:path w="4987814" h="4987814">
                <a:moveTo>
                  <a:pt x="0" y="0"/>
                </a:moveTo>
                <a:lnTo>
                  <a:pt x="4987814" y="0"/>
                </a:lnTo>
                <a:lnTo>
                  <a:pt x="4987814" y="4987814"/>
                </a:lnTo>
                <a:lnTo>
                  <a:pt x="0" y="49878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891540" y="2697185"/>
            <a:ext cx="3302849" cy="0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91540" y="417195"/>
            <a:ext cx="14667548" cy="2241894"/>
            <a:chOff x="0" y="0"/>
            <a:chExt cx="19556730" cy="29891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556730" cy="2989198"/>
            </a:xfrm>
            <a:custGeom>
              <a:avLst/>
              <a:gdLst/>
              <a:ahLst/>
              <a:cxnLst/>
              <a:rect l="l" t="t" r="r" b="b"/>
              <a:pathLst>
                <a:path w="19556730" h="2989198">
                  <a:moveTo>
                    <a:pt x="0" y="0"/>
                  </a:moveTo>
                  <a:lnTo>
                    <a:pt x="19556730" y="0"/>
                  </a:lnTo>
                  <a:lnTo>
                    <a:pt x="19556730" y="2989198"/>
                  </a:lnTo>
                  <a:lnTo>
                    <a:pt x="0" y="29891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480" b="-7748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19556730" cy="297014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6336"/>
                </a:lnSpc>
              </a:pPr>
              <a:r>
                <a:rPr lang="en-US" sz="6600" b="1" spc="150">
                  <a:solidFill>
                    <a:srgbClr val="000000"/>
                  </a:solidFill>
                  <a:latin typeface="Times New Roman MT Ultra-Bold"/>
                  <a:ea typeface="Times New Roman MT Ultra-Bold"/>
                  <a:cs typeface="Times New Roman MT Ultra-Bold"/>
                  <a:sym typeface="Times New Roman MT Ultra-Bold"/>
                </a:rPr>
                <a:t>ECG Signal Processing Pipeline for Sleep Stage Classification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91540" y="3429870"/>
            <a:ext cx="14907430" cy="4379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code processes EDF signal files along with their corresponding XML annotations.</a:t>
            </a:r>
          </a:p>
          <a:p>
            <a:pPr marL="777240" lvl="1" indent="-388620" algn="l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It extracts the ECG/EKG channel, applies filtering and normalization.</a:t>
            </a:r>
          </a:p>
          <a:p>
            <a:pPr marL="777240" lvl="1" indent="-388620" algn="l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The signal is segmented into fixed 30-second windows, and each segment is assigned a label.</a:t>
            </a:r>
          </a:p>
          <a:p>
            <a:pPr marL="777240" lvl="1" indent="-388620" algn="l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Finally, all segments and labels are aggregated into datasets (X_all, y_all), with summary statistics displayed.</a:t>
            </a:r>
          </a:p>
          <a:p>
            <a:pPr algn="l">
              <a:lnSpc>
                <a:spcPts val="3888"/>
              </a:lnSpc>
            </a:pPr>
            <a:endParaRPr lang="en-US" sz="36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05063" y="0"/>
            <a:ext cx="4987814" cy="4987814"/>
          </a:xfrm>
          <a:custGeom>
            <a:avLst/>
            <a:gdLst/>
            <a:ahLst/>
            <a:cxnLst/>
            <a:rect l="l" t="t" r="r" b="b"/>
            <a:pathLst>
              <a:path w="4987814" h="4987814">
                <a:moveTo>
                  <a:pt x="0" y="0"/>
                </a:moveTo>
                <a:lnTo>
                  <a:pt x="4987814" y="0"/>
                </a:lnTo>
                <a:lnTo>
                  <a:pt x="4987814" y="4987814"/>
                </a:lnTo>
                <a:lnTo>
                  <a:pt x="0" y="49878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891540" y="2697185"/>
            <a:ext cx="3302849" cy="0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91540" y="417195"/>
            <a:ext cx="14667548" cy="2241894"/>
            <a:chOff x="0" y="0"/>
            <a:chExt cx="19556730" cy="29891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556730" cy="2989198"/>
            </a:xfrm>
            <a:custGeom>
              <a:avLst/>
              <a:gdLst/>
              <a:ahLst/>
              <a:cxnLst/>
              <a:rect l="l" t="t" r="r" b="b"/>
              <a:pathLst>
                <a:path w="19556730" h="2989198">
                  <a:moveTo>
                    <a:pt x="0" y="0"/>
                  </a:moveTo>
                  <a:lnTo>
                    <a:pt x="19556730" y="0"/>
                  </a:lnTo>
                  <a:lnTo>
                    <a:pt x="19556730" y="2989198"/>
                  </a:lnTo>
                  <a:lnTo>
                    <a:pt x="0" y="29891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480" b="-7748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19556730" cy="297014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6336"/>
                </a:lnSpc>
              </a:pPr>
              <a:r>
                <a:rPr lang="en-US" sz="6600" b="1" spc="150">
                  <a:solidFill>
                    <a:srgbClr val="000000"/>
                  </a:solidFill>
                  <a:latin typeface="Times New Roman MT Ultra-Bold"/>
                  <a:ea typeface="Times New Roman MT Ultra-Bold"/>
                  <a:cs typeface="Times New Roman MT Ultra-Bold"/>
                  <a:sym typeface="Times New Roman MT Ultra-Bold"/>
                </a:rPr>
                <a:t>Saving Processed Dataset Using Pickle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91540" y="3429870"/>
            <a:ext cx="14907430" cy="3407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code creates a directory to store the dataset if it does not already exist.</a:t>
            </a:r>
          </a:p>
          <a:p>
            <a:pPr marL="777240" lvl="1" indent="-388620" algn="l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It then saves the processed data (X_all and y_all) into Pickle (.pkl) files.</a:t>
            </a:r>
          </a:p>
          <a:p>
            <a:pPr algn="l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Both the signal data and their corresponding labels are stored separately, allowing easy reloading later for training or analysis.</a:t>
            </a:r>
          </a:p>
          <a:p>
            <a:pPr algn="l">
              <a:lnSpc>
                <a:spcPts val="3888"/>
              </a:lnSpc>
            </a:pPr>
            <a:endParaRPr lang="en-US" sz="36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1540" y="0"/>
            <a:ext cx="14667548" cy="2241894"/>
            <a:chOff x="0" y="0"/>
            <a:chExt cx="19556730" cy="29891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556730" cy="2989198"/>
            </a:xfrm>
            <a:custGeom>
              <a:avLst/>
              <a:gdLst/>
              <a:ahLst/>
              <a:cxnLst/>
              <a:rect l="l" t="t" r="r" b="b"/>
              <a:pathLst>
                <a:path w="19556730" h="2989198">
                  <a:moveTo>
                    <a:pt x="0" y="0"/>
                  </a:moveTo>
                  <a:lnTo>
                    <a:pt x="19556730" y="0"/>
                  </a:lnTo>
                  <a:lnTo>
                    <a:pt x="19556730" y="2989198"/>
                  </a:lnTo>
                  <a:lnTo>
                    <a:pt x="0" y="29891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7480" b="-7748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19556730" cy="297014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6336"/>
                </a:lnSpc>
              </a:pPr>
              <a:r>
                <a:rPr lang="en-US" sz="6600" b="1" spc="150">
                  <a:solidFill>
                    <a:srgbClr val="000000"/>
                  </a:solidFill>
                  <a:latin typeface="Times New Roman MT Ultra-Bold"/>
                  <a:ea typeface="Times New Roman MT Ultra-Bold"/>
                  <a:cs typeface="Times New Roman MT Ultra-Bold"/>
                  <a:sym typeface="Times New Roman MT Ultra-Bold"/>
                </a:rPr>
                <a:t>Project Workflow</a:t>
              </a:r>
            </a:p>
          </p:txBody>
        </p:sp>
      </p:grpSp>
      <p:sp>
        <p:nvSpPr>
          <p:cNvPr id="5" name="AutoShape 5"/>
          <p:cNvSpPr/>
          <p:nvPr/>
        </p:nvSpPr>
        <p:spPr>
          <a:xfrm>
            <a:off x="891540" y="2279994"/>
            <a:ext cx="3302849" cy="0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28700" y="2346438"/>
            <a:ext cx="15047147" cy="7448338"/>
          </a:xfrm>
          <a:custGeom>
            <a:avLst/>
            <a:gdLst/>
            <a:ahLst/>
            <a:cxnLst/>
            <a:rect l="l" t="t" r="r" b="b"/>
            <a:pathLst>
              <a:path w="15047147" h="7448338">
                <a:moveTo>
                  <a:pt x="0" y="0"/>
                </a:moveTo>
                <a:lnTo>
                  <a:pt x="15047147" y="0"/>
                </a:lnTo>
                <a:lnTo>
                  <a:pt x="15047147" y="7448338"/>
                </a:lnTo>
                <a:lnTo>
                  <a:pt x="0" y="74483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663384" y="2346438"/>
            <a:ext cx="15345064" cy="7595806"/>
          </a:xfrm>
          <a:custGeom>
            <a:avLst/>
            <a:gdLst/>
            <a:ahLst/>
            <a:cxnLst/>
            <a:rect l="l" t="t" r="r" b="b"/>
            <a:pathLst>
              <a:path w="15345064" h="7595806">
                <a:moveTo>
                  <a:pt x="0" y="0"/>
                </a:moveTo>
                <a:lnTo>
                  <a:pt x="15345064" y="0"/>
                </a:lnTo>
                <a:lnTo>
                  <a:pt x="15345064" y="7595807"/>
                </a:lnTo>
                <a:lnTo>
                  <a:pt x="0" y="75958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3305063" y="0"/>
            <a:ext cx="4987814" cy="4987814"/>
          </a:xfrm>
          <a:custGeom>
            <a:avLst/>
            <a:gdLst/>
            <a:ahLst/>
            <a:cxnLst/>
            <a:rect l="l" t="t" r="r" b="b"/>
            <a:pathLst>
              <a:path w="4987814" h="4987814">
                <a:moveTo>
                  <a:pt x="0" y="0"/>
                </a:moveTo>
                <a:lnTo>
                  <a:pt x="4987814" y="0"/>
                </a:lnTo>
                <a:lnTo>
                  <a:pt x="4987814" y="4987814"/>
                </a:lnTo>
                <a:lnTo>
                  <a:pt x="0" y="49878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05063" y="0"/>
            <a:ext cx="4987814" cy="4987814"/>
          </a:xfrm>
          <a:custGeom>
            <a:avLst/>
            <a:gdLst/>
            <a:ahLst/>
            <a:cxnLst/>
            <a:rect l="l" t="t" r="r" b="b"/>
            <a:pathLst>
              <a:path w="4987814" h="4987814">
                <a:moveTo>
                  <a:pt x="0" y="0"/>
                </a:moveTo>
                <a:lnTo>
                  <a:pt x="4987814" y="0"/>
                </a:lnTo>
                <a:lnTo>
                  <a:pt x="4987814" y="4987814"/>
                </a:lnTo>
                <a:lnTo>
                  <a:pt x="0" y="49878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891540" y="2697185"/>
            <a:ext cx="3302849" cy="0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91540" y="417195"/>
            <a:ext cx="14667548" cy="2241894"/>
            <a:chOff x="0" y="0"/>
            <a:chExt cx="19556730" cy="29891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556730" cy="2989198"/>
            </a:xfrm>
            <a:custGeom>
              <a:avLst/>
              <a:gdLst/>
              <a:ahLst/>
              <a:cxnLst/>
              <a:rect l="l" t="t" r="r" b="b"/>
              <a:pathLst>
                <a:path w="19556730" h="2989198">
                  <a:moveTo>
                    <a:pt x="0" y="0"/>
                  </a:moveTo>
                  <a:lnTo>
                    <a:pt x="19556730" y="0"/>
                  </a:lnTo>
                  <a:lnTo>
                    <a:pt x="19556730" y="2989198"/>
                  </a:lnTo>
                  <a:lnTo>
                    <a:pt x="0" y="29891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480" b="-7748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19556730" cy="297014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6336"/>
                </a:lnSpc>
              </a:pPr>
              <a:r>
                <a:rPr lang="en-US" sz="6600" b="1" spc="150">
                  <a:solidFill>
                    <a:srgbClr val="000000"/>
                  </a:solidFill>
                  <a:latin typeface="Times New Roman MT Ultra-Bold"/>
                  <a:ea typeface="Times New Roman MT Ultra-Bold"/>
                  <a:cs typeface="Times New Roman MT Ultra-Bold"/>
                  <a:sym typeface="Times New Roman MT Ultra-Bold"/>
                </a:rPr>
                <a:t>Data Downsampling and Train-Test Splitting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91540" y="3404221"/>
            <a:ext cx="15578797" cy="2921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 this step, the data is reduced using downsampling (taking every 10th sample) to lower computational complexity.</a:t>
            </a:r>
          </a:p>
          <a:p>
            <a:pPr algn="l">
              <a:lnSpc>
                <a:spcPts val="3888"/>
              </a:lnSpc>
            </a:pPr>
            <a:endParaRPr lang="en-US" sz="36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77240" lvl="1" indent="-388620" algn="l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Finally, the dataset is split into training (80%) and testing (20%) sets while preserving class distribution using</a:t>
            </a:r>
          </a:p>
          <a:p>
            <a:pPr algn="l">
              <a:lnSpc>
                <a:spcPts val="3888"/>
              </a:lnSpc>
            </a:pPr>
            <a:endParaRPr lang="en-US" sz="36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3343356" y="6000691"/>
            <a:ext cx="11269679" cy="3922989"/>
          </a:xfrm>
          <a:custGeom>
            <a:avLst/>
            <a:gdLst/>
            <a:ahLst/>
            <a:cxnLst/>
            <a:rect l="l" t="t" r="r" b="b"/>
            <a:pathLst>
              <a:path w="11269679" h="3922989">
                <a:moveTo>
                  <a:pt x="0" y="0"/>
                </a:moveTo>
                <a:lnTo>
                  <a:pt x="11269678" y="0"/>
                </a:lnTo>
                <a:lnTo>
                  <a:pt x="11269678" y="3922989"/>
                </a:lnTo>
                <a:lnTo>
                  <a:pt x="0" y="39229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05063" y="0"/>
            <a:ext cx="4987814" cy="4987814"/>
          </a:xfrm>
          <a:custGeom>
            <a:avLst/>
            <a:gdLst/>
            <a:ahLst/>
            <a:cxnLst/>
            <a:rect l="l" t="t" r="r" b="b"/>
            <a:pathLst>
              <a:path w="4987814" h="4987814">
                <a:moveTo>
                  <a:pt x="0" y="0"/>
                </a:moveTo>
                <a:lnTo>
                  <a:pt x="4987814" y="0"/>
                </a:lnTo>
                <a:lnTo>
                  <a:pt x="4987814" y="4987814"/>
                </a:lnTo>
                <a:lnTo>
                  <a:pt x="0" y="49878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891540" y="2697185"/>
            <a:ext cx="3302849" cy="0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91540" y="417195"/>
            <a:ext cx="14667548" cy="2241894"/>
            <a:chOff x="0" y="0"/>
            <a:chExt cx="19556730" cy="29891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556730" cy="2989198"/>
            </a:xfrm>
            <a:custGeom>
              <a:avLst/>
              <a:gdLst/>
              <a:ahLst/>
              <a:cxnLst/>
              <a:rect l="l" t="t" r="r" b="b"/>
              <a:pathLst>
                <a:path w="19556730" h="2989198">
                  <a:moveTo>
                    <a:pt x="0" y="0"/>
                  </a:moveTo>
                  <a:lnTo>
                    <a:pt x="19556730" y="0"/>
                  </a:lnTo>
                  <a:lnTo>
                    <a:pt x="19556730" y="2989198"/>
                  </a:lnTo>
                  <a:lnTo>
                    <a:pt x="0" y="29891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480" b="-7748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19556730" cy="297014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6336"/>
                </a:lnSpc>
              </a:pPr>
              <a:r>
                <a:rPr lang="en-US" sz="6600" b="1" spc="150">
                  <a:solidFill>
                    <a:srgbClr val="000000"/>
                  </a:solidFill>
                  <a:latin typeface="Times New Roman MT Ultra-Bold"/>
                  <a:ea typeface="Times New Roman MT Ultra-Bold"/>
                  <a:cs typeface="Times New Roman MT Ultra-Bold"/>
                  <a:sym typeface="Times New Roman MT Ultra-Bold"/>
                </a:rPr>
                <a:t>Handling Class Imbalance (Oversampling N1 Class)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91540" y="3613850"/>
            <a:ext cx="15578797" cy="3407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step addresses the issue of class imbalance in the training data.</a:t>
            </a:r>
          </a:p>
          <a:p>
            <a:pPr algn="l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First, all samples belonging to the N1 class are identified.</a:t>
            </a:r>
          </a:p>
          <a:p>
            <a:pPr algn="l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Then, these samples are duplicated twice (oversampling) and added back to the training set, increasing their representation.</a:t>
            </a:r>
          </a:p>
          <a:p>
            <a:pPr algn="l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helps the model better learn the minority class and reduces bias toward dominant classes.</a:t>
            </a:r>
          </a:p>
          <a:p>
            <a:pPr algn="l">
              <a:lnSpc>
                <a:spcPts val="3888"/>
              </a:lnSpc>
            </a:pPr>
            <a:endParaRPr lang="en-US" sz="36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05063" y="0"/>
            <a:ext cx="4987814" cy="4987814"/>
          </a:xfrm>
          <a:custGeom>
            <a:avLst/>
            <a:gdLst/>
            <a:ahLst/>
            <a:cxnLst/>
            <a:rect l="l" t="t" r="r" b="b"/>
            <a:pathLst>
              <a:path w="4987814" h="4987814">
                <a:moveTo>
                  <a:pt x="0" y="0"/>
                </a:moveTo>
                <a:lnTo>
                  <a:pt x="4987814" y="0"/>
                </a:lnTo>
                <a:lnTo>
                  <a:pt x="4987814" y="4987814"/>
                </a:lnTo>
                <a:lnTo>
                  <a:pt x="0" y="49878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891540" y="2697185"/>
            <a:ext cx="3302849" cy="0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91540" y="417195"/>
            <a:ext cx="14667548" cy="2241894"/>
            <a:chOff x="0" y="0"/>
            <a:chExt cx="19556730" cy="29891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556730" cy="2989198"/>
            </a:xfrm>
            <a:custGeom>
              <a:avLst/>
              <a:gdLst/>
              <a:ahLst/>
              <a:cxnLst/>
              <a:rect l="l" t="t" r="r" b="b"/>
              <a:pathLst>
                <a:path w="19556730" h="2989198">
                  <a:moveTo>
                    <a:pt x="0" y="0"/>
                  </a:moveTo>
                  <a:lnTo>
                    <a:pt x="19556730" y="0"/>
                  </a:lnTo>
                  <a:lnTo>
                    <a:pt x="19556730" y="2989198"/>
                  </a:lnTo>
                  <a:lnTo>
                    <a:pt x="0" y="29891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480" b="-7748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19556730" cy="2970142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6336"/>
                </a:lnSpc>
              </a:pPr>
              <a:r>
                <a:rPr lang="en-US" sz="6600" b="1" spc="150">
                  <a:solidFill>
                    <a:srgbClr val="000000"/>
                  </a:solidFill>
                  <a:latin typeface="Times New Roman MT Ultra-Bold"/>
                  <a:ea typeface="Times New Roman MT Ultra-Bold"/>
                  <a:cs typeface="Times New Roman MT Ultra-Bold"/>
                  <a:sym typeface="Times New Roman MT Ultra-Bold"/>
                </a:rPr>
                <a:t>Data Augmentation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91540" y="3404221"/>
            <a:ext cx="15578797" cy="2436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 improve the robustness of the model, data augmentation was applied by adding Gaussian noise to the training signals.</a:t>
            </a:r>
          </a:p>
          <a:p>
            <a:pPr marL="777240" lvl="1" indent="-388620" algn="l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This simulates real-world signal variability and helps the model generalize better while reducing overfitting.</a:t>
            </a:r>
          </a:p>
          <a:p>
            <a:pPr algn="l">
              <a:lnSpc>
                <a:spcPts val="3888"/>
              </a:lnSpc>
            </a:pPr>
            <a:endParaRPr lang="en-US" sz="36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05063" y="0"/>
            <a:ext cx="4987814" cy="4987814"/>
          </a:xfrm>
          <a:custGeom>
            <a:avLst/>
            <a:gdLst/>
            <a:ahLst/>
            <a:cxnLst/>
            <a:rect l="l" t="t" r="r" b="b"/>
            <a:pathLst>
              <a:path w="4987814" h="4987814">
                <a:moveTo>
                  <a:pt x="0" y="0"/>
                </a:moveTo>
                <a:lnTo>
                  <a:pt x="4987814" y="0"/>
                </a:lnTo>
                <a:lnTo>
                  <a:pt x="4987814" y="4987814"/>
                </a:lnTo>
                <a:lnTo>
                  <a:pt x="0" y="49878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891540" y="2697185"/>
            <a:ext cx="3302849" cy="0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91540" y="1139951"/>
            <a:ext cx="14667548" cy="1353956"/>
            <a:chOff x="0" y="0"/>
            <a:chExt cx="19556730" cy="18052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556730" cy="1805281"/>
            </a:xfrm>
            <a:custGeom>
              <a:avLst/>
              <a:gdLst/>
              <a:ahLst/>
              <a:cxnLst/>
              <a:rect l="l" t="t" r="r" b="b"/>
              <a:pathLst>
                <a:path w="19556730" h="1805281">
                  <a:moveTo>
                    <a:pt x="0" y="0"/>
                  </a:moveTo>
                  <a:lnTo>
                    <a:pt x="19556730" y="0"/>
                  </a:lnTo>
                  <a:lnTo>
                    <a:pt x="19556730" y="1805281"/>
                  </a:lnTo>
                  <a:lnTo>
                    <a:pt x="0" y="18052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8292" b="-1938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19556730" cy="178622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6336"/>
                </a:lnSpc>
              </a:pPr>
              <a:r>
                <a:rPr lang="en-US" sz="6600" b="1" spc="150">
                  <a:solidFill>
                    <a:srgbClr val="000000"/>
                  </a:solidFill>
                  <a:latin typeface="Times New Roman MT Ultra-Bold"/>
                  <a:ea typeface="Times New Roman MT Ultra-Bold"/>
                  <a:cs typeface="Times New Roman MT Ultra-Bold"/>
                  <a:sym typeface="Times New Roman MT Ultra-Bold"/>
                </a:rPr>
                <a:t>Focal Loss to Handle Class Imbalance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91540" y="3421761"/>
            <a:ext cx="15578797" cy="5836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code defines a custom loss function called Focal Loss, used to improve model performance in imbalanced datasets.</a:t>
            </a:r>
          </a:p>
          <a:p>
            <a:pPr marL="777240" lvl="1" indent="-388620" algn="l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First, labels are converted into one-hot encoding, and categorical cross-entropy is computed.</a:t>
            </a:r>
          </a:p>
          <a:p>
            <a:pPr algn="l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Then, a modulating factor is applied to focus more on hard-to-classify samples and reduce the impact of easy ones.</a:t>
            </a:r>
          </a:p>
          <a:p>
            <a:pPr algn="l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Parameters:</a:t>
            </a:r>
          </a:p>
          <a:p>
            <a:pPr marL="777240" lvl="1" indent="-388620" algn="l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gamma: controls the focus on hard samples</a:t>
            </a:r>
          </a:p>
          <a:p>
            <a:pPr marL="777240" lvl="1" indent="-388620" algn="l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alpha: balances class importance</a:t>
            </a:r>
          </a:p>
          <a:p>
            <a:pPr algn="l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loss function helps the model pay more attention to minority or difficult classes.</a:t>
            </a:r>
          </a:p>
          <a:p>
            <a:pPr algn="l">
              <a:lnSpc>
                <a:spcPts val="3888"/>
              </a:lnSpc>
            </a:pPr>
            <a:endParaRPr lang="en-US" sz="36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05063" y="0"/>
            <a:ext cx="4987814" cy="4987814"/>
          </a:xfrm>
          <a:custGeom>
            <a:avLst/>
            <a:gdLst/>
            <a:ahLst/>
            <a:cxnLst/>
            <a:rect l="l" t="t" r="r" b="b"/>
            <a:pathLst>
              <a:path w="4987814" h="4987814">
                <a:moveTo>
                  <a:pt x="0" y="0"/>
                </a:moveTo>
                <a:lnTo>
                  <a:pt x="4987814" y="0"/>
                </a:lnTo>
                <a:lnTo>
                  <a:pt x="4987814" y="4987814"/>
                </a:lnTo>
                <a:lnTo>
                  <a:pt x="0" y="49878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891540" y="2697185"/>
            <a:ext cx="3302849" cy="0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91540" y="274924"/>
            <a:ext cx="14667548" cy="2422260"/>
            <a:chOff x="0" y="0"/>
            <a:chExt cx="19556730" cy="32296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556730" cy="3229686"/>
            </a:xfrm>
            <a:custGeom>
              <a:avLst/>
              <a:gdLst/>
              <a:ahLst/>
              <a:cxnLst/>
              <a:rect l="l" t="t" r="r" b="b"/>
              <a:pathLst>
                <a:path w="19556730" h="3229686">
                  <a:moveTo>
                    <a:pt x="0" y="0"/>
                  </a:moveTo>
                  <a:lnTo>
                    <a:pt x="19556730" y="0"/>
                  </a:lnTo>
                  <a:lnTo>
                    <a:pt x="19556730" y="3229686"/>
                  </a:lnTo>
                  <a:lnTo>
                    <a:pt x="0" y="32296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11" b="-6426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19556730" cy="321063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6336"/>
                </a:lnSpc>
              </a:pPr>
              <a:r>
                <a:rPr lang="en-US" sz="6600" b="1" spc="150">
                  <a:solidFill>
                    <a:srgbClr val="000000"/>
                  </a:solidFill>
                  <a:latin typeface="Times New Roman MT Ultra-Bold"/>
                  <a:ea typeface="Times New Roman MT Ultra-Bold"/>
                  <a:cs typeface="Times New Roman MT Ultra-Bold"/>
                  <a:sym typeface="Times New Roman MT Ultra-Bold"/>
                </a:rPr>
                <a:t>Deep Learning Model Architecture (CNN + Transformer)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3510832"/>
            <a:ext cx="15925310" cy="5350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section defines a deep learning model for ECG signal classification.</a:t>
            </a:r>
          </a:p>
          <a:p>
            <a:pPr marL="777240" lvl="1" indent="-388620" algn="l">
              <a:lnSpc>
                <a:spcPts val="3888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model starts with an input layer of shape (768, 1).</a:t>
            </a:r>
          </a:p>
          <a:p>
            <a:pPr algn="l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 uses </a:t>
            </a:r>
            <a:r>
              <a:rPr lang="en-US" sz="3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Residual Blocks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to extract meaningful features, followed by </a:t>
            </a:r>
          </a:p>
          <a:p>
            <a:pPr algn="l">
              <a:lnSpc>
                <a:spcPts val="3888"/>
              </a:lnSpc>
            </a:pPr>
            <a:r>
              <a:rPr lang="en-US" sz="3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Max Pooling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for dimensionality reduction.</a:t>
            </a:r>
          </a:p>
          <a:p>
            <a:pPr algn="l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Then, multiple </a:t>
            </a:r>
            <a:r>
              <a:rPr lang="en-US" sz="3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Transformer Encoder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layers (5 layers) are applied.</a:t>
            </a:r>
          </a:p>
          <a:p>
            <a:pPr algn="l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Next, </a:t>
            </a:r>
            <a:r>
              <a:rPr lang="en-US" sz="3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Global Average Pooling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is used, followed by fully connected layers with </a:t>
            </a:r>
            <a:r>
              <a:rPr lang="en-US" sz="3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Batch Normalization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and Dropout to improve generalization and reduce overfitting.</a:t>
            </a:r>
          </a:p>
          <a:p>
            <a:pPr algn="l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Finally, a </a:t>
            </a:r>
            <a:r>
              <a:rPr lang="en-US" sz="3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Softmax 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output layer with 5 neurons is used for multi-class classification of sleep stages.</a:t>
            </a:r>
          </a:p>
          <a:p>
            <a:pPr algn="l">
              <a:lnSpc>
                <a:spcPts val="3888"/>
              </a:lnSpc>
            </a:pPr>
            <a:endParaRPr lang="en-US" sz="36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204341" y="-1398003"/>
            <a:ext cx="8743950" cy="4853407"/>
          </a:xfrm>
          <a:custGeom>
            <a:avLst/>
            <a:gdLst/>
            <a:ahLst/>
            <a:cxnLst/>
            <a:rect l="l" t="t" r="r" b="b"/>
            <a:pathLst>
              <a:path w="8743950" h="4853407">
                <a:moveTo>
                  <a:pt x="0" y="0"/>
                </a:moveTo>
                <a:lnTo>
                  <a:pt x="8743950" y="0"/>
                </a:lnTo>
                <a:lnTo>
                  <a:pt x="8743950" y="4853406"/>
                </a:lnTo>
                <a:lnTo>
                  <a:pt x="0" y="4853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815340" y="3147063"/>
            <a:ext cx="3374538" cy="0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4713175"/>
            <a:ext cx="16547616" cy="5295237"/>
          </a:xfrm>
          <a:custGeom>
            <a:avLst/>
            <a:gdLst/>
            <a:ahLst/>
            <a:cxnLst/>
            <a:rect l="l" t="t" r="r" b="b"/>
            <a:pathLst>
              <a:path w="16547616" h="5295237">
                <a:moveTo>
                  <a:pt x="0" y="0"/>
                </a:moveTo>
                <a:lnTo>
                  <a:pt x="16547616" y="0"/>
                </a:lnTo>
                <a:lnTo>
                  <a:pt x="16547616" y="5295237"/>
                </a:lnTo>
                <a:lnTo>
                  <a:pt x="0" y="52952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815340" y="1485807"/>
            <a:ext cx="6638330" cy="1268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40"/>
              </a:lnSpc>
              <a:spcBef>
                <a:spcPct val="0"/>
              </a:spcBef>
            </a:pPr>
            <a:r>
              <a:rPr lang="en-US" sz="6600" b="1" spc="150">
                <a:solidFill>
                  <a:srgbClr val="000000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Model evaluation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15340" y="3236328"/>
            <a:ext cx="8825389" cy="1050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sz="5500" b="1" spc="125">
                <a:solidFill>
                  <a:srgbClr val="000000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1.Accuracy and loss metrics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850198"/>
            <a:ext cx="4438840" cy="4438840"/>
          </a:xfrm>
          <a:custGeom>
            <a:avLst/>
            <a:gdLst/>
            <a:ahLst/>
            <a:cxnLst/>
            <a:rect l="l" t="t" r="r" b="b"/>
            <a:pathLst>
              <a:path w="4438840" h="4438840">
                <a:moveTo>
                  <a:pt x="0" y="0"/>
                </a:moveTo>
                <a:lnTo>
                  <a:pt x="4438840" y="0"/>
                </a:lnTo>
                <a:lnTo>
                  <a:pt x="4438840" y="4438840"/>
                </a:lnTo>
                <a:lnTo>
                  <a:pt x="0" y="44388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4438840" y="9039227"/>
            <a:ext cx="13849160" cy="1257429"/>
            <a:chOff x="0" y="0"/>
            <a:chExt cx="18465546" cy="16765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465546" cy="1676578"/>
            </a:xfrm>
            <a:custGeom>
              <a:avLst/>
              <a:gdLst/>
              <a:ahLst/>
              <a:cxnLst/>
              <a:rect l="l" t="t" r="r" b="b"/>
              <a:pathLst>
                <a:path w="18465546" h="1676578">
                  <a:moveTo>
                    <a:pt x="0" y="0"/>
                  </a:moveTo>
                  <a:lnTo>
                    <a:pt x="18465546" y="0"/>
                  </a:lnTo>
                  <a:lnTo>
                    <a:pt x="18465546" y="1676578"/>
                  </a:lnTo>
                  <a:lnTo>
                    <a:pt x="0" y="16765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8141" r="-5909" b="-21643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18465546" cy="1657523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just">
                <a:lnSpc>
                  <a:spcPts val="5856"/>
                </a:lnSpc>
              </a:pPr>
              <a:r>
                <a:rPr lang="en-US" sz="6100" b="1" spc="138">
                  <a:solidFill>
                    <a:srgbClr val="000000"/>
                  </a:solidFill>
                  <a:latin typeface="Times New Roman MT Ultra-Bold"/>
                  <a:ea typeface="Times New Roman MT Ultra-Bold"/>
                  <a:cs typeface="Times New Roman MT Ultra-Bold"/>
                  <a:sym typeface="Times New Roman MT Ultra-Bold"/>
                </a:rPr>
                <a:t>Model Evaluation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7041118" y="688546"/>
            <a:ext cx="10218182" cy="8569754"/>
          </a:xfrm>
          <a:custGeom>
            <a:avLst/>
            <a:gdLst/>
            <a:ahLst/>
            <a:cxnLst/>
            <a:rect l="l" t="t" r="r" b="b"/>
            <a:pathLst>
              <a:path w="10218182" h="8569754">
                <a:moveTo>
                  <a:pt x="0" y="0"/>
                </a:moveTo>
                <a:lnTo>
                  <a:pt x="10218182" y="0"/>
                </a:lnTo>
                <a:lnTo>
                  <a:pt x="10218182" y="8569754"/>
                </a:lnTo>
                <a:lnTo>
                  <a:pt x="0" y="85697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399" b="-169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4438840" y="9039227"/>
            <a:ext cx="5836839" cy="0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0" y="1137510"/>
            <a:ext cx="6824265" cy="2022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sz="5500" b="1" spc="125">
                <a:solidFill>
                  <a:srgbClr val="000000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2.Confusion matrix visualization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850198"/>
            <a:ext cx="4438840" cy="4438840"/>
          </a:xfrm>
          <a:custGeom>
            <a:avLst/>
            <a:gdLst/>
            <a:ahLst/>
            <a:cxnLst/>
            <a:rect l="l" t="t" r="r" b="b"/>
            <a:pathLst>
              <a:path w="4438840" h="4438840">
                <a:moveTo>
                  <a:pt x="0" y="0"/>
                </a:moveTo>
                <a:lnTo>
                  <a:pt x="4438840" y="0"/>
                </a:lnTo>
                <a:lnTo>
                  <a:pt x="4438840" y="4438840"/>
                </a:lnTo>
                <a:lnTo>
                  <a:pt x="0" y="44388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4438840" y="9039227"/>
            <a:ext cx="13849160" cy="1257429"/>
            <a:chOff x="0" y="0"/>
            <a:chExt cx="18465546" cy="16765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465546" cy="1676578"/>
            </a:xfrm>
            <a:custGeom>
              <a:avLst/>
              <a:gdLst/>
              <a:ahLst/>
              <a:cxnLst/>
              <a:rect l="l" t="t" r="r" b="b"/>
              <a:pathLst>
                <a:path w="18465546" h="1676578">
                  <a:moveTo>
                    <a:pt x="0" y="0"/>
                  </a:moveTo>
                  <a:lnTo>
                    <a:pt x="18465546" y="0"/>
                  </a:lnTo>
                  <a:lnTo>
                    <a:pt x="18465546" y="1676578"/>
                  </a:lnTo>
                  <a:lnTo>
                    <a:pt x="0" y="16765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8141" r="-5909" b="-21643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18465546" cy="1657523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just">
                <a:lnSpc>
                  <a:spcPts val="5856"/>
                </a:lnSpc>
              </a:pPr>
              <a:r>
                <a:rPr lang="en-US" sz="6100" b="1" spc="138">
                  <a:solidFill>
                    <a:srgbClr val="000000"/>
                  </a:solidFill>
                  <a:latin typeface="Times New Roman MT Ultra-Bold"/>
                  <a:ea typeface="Times New Roman MT Ultra-Bold"/>
                  <a:cs typeface="Times New Roman MT Ultra-Bold"/>
                  <a:sym typeface="Times New Roman MT Ultra-Bold"/>
                </a:rPr>
                <a:t>Model Evaluation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5749795" y="180540"/>
            <a:ext cx="11227250" cy="9077760"/>
          </a:xfrm>
          <a:custGeom>
            <a:avLst/>
            <a:gdLst/>
            <a:ahLst/>
            <a:cxnLst/>
            <a:rect l="l" t="t" r="r" b="b"/>
            <a:pathLst>
              <a:path w="11227250" h="9077760">
                <a:moveTo>
                  <a:pt x="0" y="0"/>
                </a:moveTo>
                <a:lnTo>
                  <a:pt x="11227250" y="0"/>
                </a:lnTo>
                <a:lnTo>
                  <a:pt x="11227250" y="9077760"/>
                </a:lnTo>
                <a:lnTo>
                  <a:pt x="0" y="9077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4438840" y="9039227"/>
            <a:ext cx="5836839" cy="0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743775" y="1071259"/>
            <a:ext cx="4356854" cy="2073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25"/>
              </a:lnSpc>
              <a:spcBef>
                <a:spcPct val="0"/>
              </a:spcBef>
            </a:pPr>
            <a:r>
              <a:rPr lang="en-US" sz="5589" b="1" spc="122">
                <a:solidFill>
                  <a:srgbClr val="000000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3. Multi class</a:t>
            </a:r>
          </a:p>
          <a:p>
            <a:pPr algn="ctr">
              <a:lnSpc>
                <a:spcPts val="7825"/>
              </a:lnSpc>
              <a:spcBef>
                <a:spcPct val="0"/>
              </a:spcBef>
            </a:pPr>
            <a:r>
              <a:rPr lang="en-US" sz="5589" b="1" spc="127">
                <a:solidFill>
                  <a:srgbClr val="000000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 ROC curve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204341" y="-1398003"/>
            <a:ext cx="8743950" cy="4853407"/>
          </a:xfrm>
          <a:custGeom>
            <a:avLst/>
            <a:gdLst/>
            <a:ahLst/>
            <a:cxnLst/>
            <a:rect l="l" t="t" r="r" b="b"/>
            <a:pathLst>
              <a:path w="8743950" h="4853407">
                <a:moveTo>
                  <a:pt x="0" y="0"/>
                </a:moveTo>
                <a:lnTo>
                  <a:pt x="8743950" y="0"/>
                </a:lnTo>
                <a:lnTo>
                  <a:pt x="8743950" y="4853406"/>
                </a:lnTo>
                <a:lnTo>
                  <a:pt x="0" y="4853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815340" y="3147063"/>
            <a:ext cx="3374538" cy="0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815340" y="1485807"/>
            <a:ext cx="6638330" cy="1268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40"/>
              </a:lnSpc>
              <a:spcBef>
                <a:spcPct val="0"/>
              </a:spcBef>
            </a:pPr>
            <a:r>
              <a:rPr lang="en-US" sz="6600" b="1" spc="150">
                <a:solidFill>
                  <a:srgbClr val="000000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Model evaluation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416473" y="5019675"/>
            <a:ext cx="7159843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spc="6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accuracy: 0.7696 - loss: 0.1060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15340" y="3331578"/>
            <a:ext cx="7504152" cy="698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Classification Report: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     precision    recall  f1-score   support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spc="68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  0       0.95      0.90      0.92      1114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  1       0.30      0.33      0.31       188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  2       0.71      0.75      0.73       824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  3       0.61      0.66      0.63       174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  4       0.73      0.67      0.70       252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spc="68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accuracy                           0.77      2552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macro avg    0.66   0.66     0.66      2552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weighted avg   0.78   0.77     0.77      2552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spc="68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204341" y="-1398003"/>
            <a:ext cx="8743950" cy="4853407"/>
          </a:xfrm>
          <a:custGeom>
            <a:avLst/>
            <a:gdLst/>
            <a:ahLst/>
            <a:cxnLst/>
            <a:rect l="l" t="t" r="r" b="b"/>
            <a:pathLst>
              <a:path w="8743950" h="4853407">
                <a:moveTo>
                  <a:pt x="0" y="0"/>
                </a:moveTo>
                <a:lnTo>
                  <a:pt x="8743950" y="0"/>
                </a:lnTo>
                <a:lnTo>
                  <a:pt x="8743950" y="4853406"/>
                </a:lnTo>
                <a:lnTo>
                  <a:pt x="0" y="4853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815340" y="3147063"/>
            <a:ext cx="3374538" cy="0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815340" y="1485807"/>
            <a:ext cx="4671060" cy="1128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240"/>
              </a:lnSpc>
              <a:spcBef>
                <a:spcPct val="0"/>
              </a:spcBef>
            </a:pPr>
            <a:r>
              <a:rPr lang="en-US" sz="6600" b="1" spc="150" dirty="0">
                <a:solidFill>
                  <a:srgbClr val="000000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References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15340" y="3476625"/>
            <a:ext cx="15874969" cy="3880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spc="7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Deep Convolutional Recurrent Model for Automatic Scoring Sleep Stages Based on Single-Lead ECG Signal , Diagnosticcs.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endParaRPr lang="en-US" sz="3600" spc="79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spc="8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This study proposes a Deep Convolutional Recurrent (DCR) model that uses only a raw single-lead ECG signal, eliminating the need for manual feature extraction or intermediate signals like Heart Rate Variability (HRV).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204341" y="-1398003"/>
            <a:ext cx="8743950" cy="4853407"/>
          </a:xfrm>
          <a:custGeom>
            <a:avLst/>
            <a:gdLst/>
            <a:ahLst/>
            <a:cxnLst/>
            <a:rect l="l" t="t" r="r" b="b"/>
            <a:pathLst>
              <a:path w="8743950" h="4853407">
                <a:moveTo>
                  <a:pt x="0" y="0"/>
                </a:moveTo>
                <a:lnTo>
                  <a:pt x="8743950" y="0"/>
                </a:lnTo>
                <a:lnTo>
                  <a:pt x="8743950" y="4853406"/>
                </a:lnTo>
                <a:lnTo>
                  <a:pt x="0" y="4853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815340" y="3147063"/>
            <a:ext cx="3374538" cy="0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467992" y="3817353"/>
            <a:ext cx="13352016" cy="5440947"/>
          </a:xfrm>
          <a:custGeom>
            <a:avLst/>
            <a:gdLst/>
            <a:ahLst/>
            <a:cxnLst/>
            <a:rect l="l" t="t" r="r" b="b"/>
            <a:pathLst>
              <a:path w="13352016" h="5440947">
                <a:moveTo>
                  <a:pt x="0" y="0"/>
                </a:moveTo>
                <a:lnTo>
                  <a:pt x="13352016" y="0"/>
                </a:lnTo>
                <a:lnTo>
                  <a:pt x="13352016" y="5440947"/>
                </a:lnTo>
                <a:lnTo>
                  <a:pt x="0" y="54409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762000" y="1485807"/>
            <a:ext cx="4594860" cy="1128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240"/>
              </a:lnSpc>
              <a:spcBef>
                <a:spcPct val="0"/>
              </a:spcBef>
            </a:pPr>
            <a:r>
              <a:rPr lang="en-US" sz="6600" b="1" spc="150" dirty="0">
                <a:solidFill>
                  <a:srgbClr val="000000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References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204341" y="-1398003"/>
            <a:ext cx="8743950" cy="4853407"/>
          </a:xfrm>
          <a:custGeom>
            <a:avLst/>
            <a:gdLst/>
            <a:ahLst/>
            <a:cxnLst/>
            <a:rect l="l" t="t" r="r" b="b"/>
            <a:pathLst>
              <a:path w="8743950" h="4853407">
                <a:moveTo>
                  <a:pt x="0" y="0"/>
                </a:moveTo>
                <a:lnTo>
                  <a:pt x="8743950" y="0"/>
                </a:lnTo>
                <a:lnTo>
                  <a:pt x="8743950" y="4853406"/>
                </a:lnTo>
                <a:lnTo>
                  <a:pt x="0" y="4853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815340" y="3147063"/>
            <a:ext cx="3374538" cy="0"/>
          </a:xfrm>
          <a:prstGeom prst="line">
            <a:avLst/>
          </a:prstGeom>
          <a:ln w="76200" cap="rnd">
            <a:solidFill>
              <a:srgbClr val="7CA65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7504212" y="3682610"/>
            <a:ext cx="11334041" cy="4618622"/>
          </a:xfrm>
          <a:custGeom>
            <a:avLst/>
            <a:gdLst/>
            <a:ahLst/>
            <a:cxnLst/>
            <a:rect l="l" t="t" r="r" b="b"/>
            <a:pathLst>
              <a:path w="11334041" h="4618622">
                <a:moveTo>
                  <a:pt x="0" y="0"/>
                </a:moveTo>
                <a:lnTo>
                  <a:pt x="11334040" y="0"/>
                </a:lnTo>
                <a:lnTo>
                  <a:pt x="11334040" y="4618622"/>
                </a:lnTo>
                <a:lnTo>
                  <a:pt x="0" y="4618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815340" y="1485807"/>
            <a:ext cx="4747260" cy="1128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240"/>
              </a:lnSpc>
              <a:spcBef>
                <a:spcPct val="0"/>
              </a:spcBef>
            </a:pPr>
            <a:r>
              <a:rPr lang="en-US" sz="6600" b="1" spc="150" dirty="0">
                <a:solidFill>
                  <a:srgbClr val="000000"/>
                </a:solidFill>
                <a:latin typeface="Times New Roman MT Ultra-Bold"/>
                <a:ea typeface="Times New Roman MT Ultra-Bold"/>
                <a:cs typeface="Times New Roman MT Ultra-Bold"/>
                <a:sym typeface="Times New Roman MT Ultra-Bold"/>
              </a:rPr>
              <a:t>References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619818" y="3558785"/>
            <a:ext cx="7504212" cy="538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Our Model: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     precision    recall  f1-score   support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spc="68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 WK         0.95      0.90      0.92      1114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 N1          0.30      0.33      0.31       188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 N2         0.71      0.75      0.73       824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 N3         0.61      0.66      0.63       174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REM      0.73      0.67      0.70       252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spc="68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6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 accuracy                           0.77      2552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0F44271005EA40B6571515A41C34ED" ma:contentTypeVersion="6" ma:contentTypeDescription="Create a new document." ma:contentTypeScope="" ma:versionID="bf103b2684d4109ba85021612c20e6c8">
  <xsd:schema xmlns:xsd="http://www.w3.org/2001/XMLSchema" xmlns:xs="http://www.w3.org/2001/XMLSchema" xmlns:p="http://schemas.microsoft.com/office/2006/metadata/properties" xmlns:ns3="dd2549af-3f3d-4b8a-9e00-937aba5f4db1" targetNamespace="http://schemas.microsoft.com/office/2006/metadata/properties" ma:root="true" ma:fieldsID="994ff44a201b40542f58529322132a5e" ns3:_="">
    <xsd:import namespace="dd2549af-3f3d-4b8a-9e00-937aba5f4db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2549af-3f3d-4b8a-9e00-937aba5f4d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d2549af-3f3d-4b8a-9e00-937aba5f4db1" xsi:nil="true"/>
  </documentManagement>
</p:properties>
</file>

<file path=customXml/itemProps1.xml><?xml version="1.0" encoding="utf-8"?>
<ds:datastoreItem xmlns:ds="http://schemas.openxmlformats.org/officeDocument/2006/customXml" ds:itemID="{54E6DCA0-770E-48EE-A03E-D78154F3876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BD995E9-DBEB-4BC1-B117-901D92DFDD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d2549af-3f3d-4b8a-9e00-937aba5f4db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DB17A18-D002-421D-9CA9-17BA399D8562}">
  <ds:schemaRefs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purl.org/dc/dcmitype/"/>
    <ds:schemaRef ds:uri="http://schemas.openxmlformats.org/package/2006/metadata/core-properties"/>
    <ds:schemaRef ds:uri="dd2549af-3f3d-4b8a-9e00-937aba5f4db1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1093</Words>
  <Application>Microsoft Office PowerPoint</Application>
  <PresentationFormat>Custom</PresentationFormat>
  <Paragraphs>160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Times New Roman MT Ultra-Bold</vt:lpstr>
      <vt:lpstr>Times New Roman MT</vt:lpstr>
      <vt:lpstr>Open Sans Bold</vt:lpstr>
      <vt:lpstr>Canva Sans</vt:lpstr>
      <vt:lpstr>Arial MT Pro</vt:lpstr>
      <vt:lpstr>Times New Roman MT Bold</vt:lpstr>
      <vt:lpstr>Calibri</vt:lpstr>
      <vt:lpstr>Arial</vt:lpstr>
      <vt:lpstr>Arial MT Pro Bold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G10 - 3rd BME BSP Balistiocaridography.pptx</dc:title>
  <dc:creator>DELL</dc:creator>
  <cp:lastModifiedBy>محمد وائل عيد ابو عميش</cp:lastModifiedBy>
  <cp:revision>3</cp:revision>
  <dcterms:created xsi:type="dcterms:W3CDTF">2006-08-16T00:00:00Z</dcterms:created>
  <dcterms:modified xsi:type="dcterms:W3CDTF">2026-05-07T11:22:43Z</dcterms:modified>
  <dc:identifier>DAHIi6i7fvk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0x010100C10F44271005EA40B6571515A41C34ED</vt:lpwstr>
  </property>
</Properties>
</file>